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30"/>
  </p:handoutMasterIdLst>
  <p:sldIdLst>
    <p:sldId id="329" r:id="rId4"/>
    <p:sldId id="396" r:id="rId5"/>
    <p:sldId id="405" r:id="rId6"/>
    <p:sldId id="398" r:id="rId7"/>
    <p:sldId id="399" r:id="rId8"/>
    <p:sldId id="404" r:id="rId9"/>
    <p:sldId id="400" r:id="rId10"/>
    <p:sldId id="406" r:id="rId11"/>
    <p:sldId id="402" r:id="rId12"/>
    <p:sldId id="401" r:id="rId13"/>
    <p:sldId id="407" r:id="rId14"/>
    <p:sldId id="403" r:id="rId15"/>
    <p:sldId id="408" r:id="rId16"/>
    <p:sldId id="389" r:id="rId17"/>
    <p:sldId id="390" r:id="rId18"/>
    <p:sldId id="379" r:id="rId19"/>
    <p:sldId id="378" r:id="rId20"/>
    <p:sldId id="397" r:id="rId21"/>
    <p:sldId id="388" r:id="rId22"/>
    <p:sldId id="367" r:id="rId23"/>
    <p:sldId id="380" r:id="rId24"/>
    <p:sldId id="381" r:id="rId25"/>
    <p:sldId id="382" r:id="rId26"/>
    <p:sldId id="383" r:id="rId27"/>
    <p:sldId id="362" r:id="rId28"/>
    <p:sldId id="260" r:id="rId29"/>
  </p:sldIdLst>
  <p:sldSz cx="12192000" cy="6858000"/>
  <p:notesSz cx="9309100" cy="6954838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720C8-0F1F-4769-A95D-E70485508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48950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A3493-3CF0-479D-887E-326CB01F42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73003" y="0"/>
            <a:ext cx="4033943" cy="348950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AB84AB01-33F2-4890-81BC-94568158DB7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946B1-632D-4B59-8997-E7256A57D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05889"/>
            <a:ext cx="4033943" cy="348949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78952-9C23-4261-888C-BF86D1BD5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73003" y="6605889"/>
            <a:ext cx="4033943" cy="348949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C82911A-3904-4D85-962F-6F98C8B80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56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5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1"/>
            <a:ext cx="11784650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57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1"/>
            <a:ext cx="11784650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0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1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69302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5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78591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86490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8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07130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8507" y="2603862"/>
            <a:ext cx="5920691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9684" y="2798339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5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674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977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53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513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3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53" r:id="rId2"/>
    <p:sldLayoutId id="2147483755" r:id="rId3"/>
    <p:sldLayoutId id="2147483756" r:id="rId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3" r:id="rId2"/>
    <p:sldLayoutId id="2147483742" r:id="rId3"/>
    <p:sldLayoutId id="2147483736" r:id="rId4"/>
    <p:sldLayoutId id="2147483737" r:id="rId5"/>
    <p:sldLayoutId id="2147483740" r:id="rId6"/>
    <p:sldLayoutId id="2147483739" r:id="rId7"/>
    <p:sldLayoutId id="2147483744" r:id="rId8"/>
    <p:sldLayoutId id="2147483745" r:id="rId9"/>
    <p:sldLayoutId id="2147483748" r:id="rId10"/>
    <p:sldLayoutId id="2147483749" r:id="rId11"/>
    <p:sldLayoutId id="2147483750" r:id="rId12"/>
    <p:sldLayoutId id="2147483754" r:id="rId1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31AD7E-CFC1-418F-98A2-18CC1568DE7A}"/>
              </a:ext>
            </a:extLst>
          </p:cNvPr>
          <p:cNvGrpSpPr/>
          <p:nvPr/>
        </p:nvGrpSpPr>
        <p:grpSpPr>
          <a:xfrm>
            <a:off x="0" y="1918544"/>
            <a:ext cx="11431630" cy="1405526"/>
            <a:chOff x="0" y="2023474"/>
            <a:chExt cx="11431630" cy="1405526"/>
          </a:xfrm>
          <a:solidFill>
            <a:schemeClr val="accent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C0A3FD7-9EFF-42EC-8BCC-8DC54EFB8BBE}"/>
                </a:ext>
              </a:extLst>
            </p:cNvPr>
            <p:cNvSpPr/>
            <p:nvPr userDrawn="1"/>
          </p:nvSpPr>
          <p:spPr>
            <a:xfrm>
              <a:off x="0" y="3200400"/>
              <a:ext cx="6135482" cy="228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13F97A-86EF-43CD-8CB7-E32D10AD6927}"/>
                </a:ext>
              </a:extLst>
            </p:cNvPr>
            <p:cNvSpPr/>
            <p:nvPr userDrawn="1"/>
          </p:nvSpPr>
          <p:spPr>
            <a:xfrm rot="2727637">
              <a:off x="7154945" y="448707"/>
              <a:ext cx="228600" cy="3413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203772E-A1FB-4E49-8AF7-B31C59999691}"/>
                </a:ext>
              </a:extLst>
            </p:cNvPr>
            <p:cNvSpPr/>
            <p:nvPr userDrawn="1"/>
          </p:nvSpPr>
          <p:spPr>
            <a:xfrm rot="18872363" flipH="1">
              <a:off x="9542351" y="362795"/>
              <a:ext cx="228600" cy="3549958"/>
            </a:xfrm>
            <a:custGeom>
              <a:avLst/>
              <a:gdLst>
                <a:gd name="connsiteX0" fmla="*/ 0 w 228600"/>
                <a:gd name="connsiteY0" fmla="*/ 0 h 3549958"/>
                <a:gd name="connsiteX1" fmla="*/ 0 w 228600"/>
                <a:gd name="connsiteY1" fmla="*/ 3549958 h 3549958"/>
                <a:gd name="connsiteX2" fmla="*/ 10901 w 228600"/>
                <a:gd name="connsiteY2" fmla="*/ 3549958 h 3549958"/>
                <a:gd name="connsiteX3" fmla="*/ 228600 w 228600"/>
                <a:gd name="connsiteY3" fmla="*/ 3328731 h 3549958"/>
                <a:gd name="connsiteX4" fmla="*/ 228600 w 228600"/>
                <a:gd name="connsiteY4" fmla="*/ 0 h 354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3549958">
                  <a:moveTo>
                    <a:pt x="0" y="0"/>
                  </a:moveTo>
                  <a:lnTo>
                    <a:pt x="0" y="3549958"/>
                  </a:lnTo>
                  <a:lnTo>
                    <a:pt x="10901" y="3549958"/>
                  </a:lnTo>
                  <a:lnTo>
                    <a:pt x="228600" y="3328731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31E7180-931A-4C17-9E5B-1625B2C7DEC1}"/>
              </a:ext>
            </a:extLst>
          </p:cNvPr>
          <p:cNvGrpSpPr/>
          <p:nvPr/>
        </p:nvGrpSpPr>
        <p:grpSpPr>
          <a:xfrm rot="10800000">
            <a:off x="5518929" y="3559557"/>
            <a:ext cx="6673071" cy="1405526"/>
            <a:chOff x="4758559" y="2023474"/>
            <a:chExt cx="6673071" cy="1405526"/>
          </a:xfrm>
          <a:solidFill>
            <a:schemeClr val="accent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8DF00D-8E76-4614-88B8-767E8BE23F4E}"/>
                </a:ext>
              </a:extLst>
            </p:cNvPr>
            <p:cNvSpPr/>
            <p:nvPr userDrawn="1"/>
          </p:nvSpPr>
          <p:spPr>
            <a:xfrm>
              <a:off x="4758559" y="3200400"/>
              <a:ext cx="1376923" cy="228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31C40D-47AF-4709-89BF-A81A115A5003}"/>
                </a:ext>
              </a:extLst>
            </p:cNvPr>
            <p:cNvSpPr/>
            <p:nvPr userDrawn="1"/>
          </p:nvSpPr>
          <p:spPr>
            <a:xfrm rot="2727637">
              <a:off x="7154945" y="448707"/>
              <a:ext cx="228600" cy="3413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F08A5D7-6365-49D1-8A3E-659608ED742D}"/>
                </a:ext>
              </a:extLst>
            </p:cNvPr>
            <p:cNvSpPr/>
            <p:nvPr userDrawn="1"/>
          </p:nvSpPr>
          <p:spPr>
            <a:xfrm rot="18872363" flipH="1">
              <a:off x="9542351" y="362795"/>
              <a:ext cx="228600" cy="3549958"/>
            </a:xfrm>
            <a:custGeom>
              <a:avLst/>
              <a:gdLst>
                <a:gd name="connsiteX0" fmla="*/ 0 w 228600"/>
                <a:gd name="connsiteY0" fmla="*/ 0 h 3549958"/>
                <a:gd name="connsiteX1" fmla="*/ 0 w 228600"/>
                <a:gd name="connsiteY1" fmla="*/ 3549958 h 3549958"/>
                <a:gd name="connsiteX2" fmla="*/ 10901 w 228600"/>
                <a:gd name="connsiteY2" fmla="*/ 3549958 h 3549958"/>
                <a:gd name="connsiteX3" fmla="*/ 228600 w 228600"/>
                <a:gd name="connsiteY3" fmla="*/ 3328731 h 3549958"/>
                <a:gd name="connsiteX4" fmla="*/ 228600 w 228600"/>
                <a:gd name="connsiteY4" fmla="*/ 0 h 354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3549958">
                  <a:moveTo>
                    <a:pt x="0" y="0"/>
                  </a:moveTo>
                  <a:lnTo>
                    <a:pt x="0" y="3549958"/>
                  </a:lnTo>
                  <a:lnTo>
                    <a:pt x="10901" y="3549958"/>
                  </a:lnTo>
                  <a:lnTo>
                    <a:pt x="228600" y="3328731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5542084B-AAC5-47D2-B4BB-FE4BA888B5D2}"/>
              </a:ext>
            </a:extLst>
          </p:cNvPr>
          <p:cNvSpPr/>
          <p:nvPr/>
        </p:nvSpPr>
        <p:spPr>
          <a:xfrm>
            <a:off x="986688" y="4698484"/>
            <a:ext cx="356478" cy="307637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61314CFC-4540-48EA-A26F-32AAD9EEBE26}"/>
              </a:ext>
            </a:extLst>
          </p:cNvPr>
          <p:cNvSpPr/>
          <p:nvPr/>
        </p:nvSpPr>
        <p:spPr>
          <a:xfrm rot="2700000">
            <a:off x="3658998" y="5531718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5EE167A2-96B5-4022-8471-190EFC9708B9}"/>
              </a:ext>
            </a:extLst>
          </p:cNvPr>
          <p:cNvSpPr/>
          <p:nvPr/>
        </p:nvSpPr>
        <p:spPr>
          <a:xfrm>
            <a:off x="3592172" y="4711446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D379AF-5D01-414D-97B8-5A8C1EB8BF11}"/>
              </a:ext>
            </a:extLst>
          </p:cNvPr>
          <p:cNvSpPr txBox="1"/>
          <p:nvPr/>
        </p:nvSpPr>
        <p:spPr>
          <a:xfrm>
            <a:off x="69329" y="1721056"/>
            <a:ext cx="704568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400" b="1" dirty="0">
                <a:cs typeface="Arial" pitchFamily="34" charset="0"/>
              </a:rPr>
              <a:t>React JS</a:t>
            </a:r>
            <a:endParaRPr lang="ko-KR" altLang="en-US" sz="4400" b="1" dirty="0">
              <a:cs typeface="Arial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1B85B0A-F9D0-E7C7-41F4-A268E3819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012" y="2136112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66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1DD5D-80AB-2F6C-D148-29DD1AEE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3BC42B-B6E7-20F6-A4B7-BA35AADE0A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3605932"/>
          </a:xfrm>
        </p:spPr>
        <p:txBody>
          <a:bodyPr/>
          <a:lstStyle/>
          <a:p>
            <a:pPr algn="just"/>
            <a:r>
              <a:rPr lang="en-US" sz="3200" dirty="0"/>
              <a:t>React is a powerful JavaScript library for building fast, scalable front-end applications. 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Created by Facebook, it's known for its component-based structure, single-page applications (SPAs), and virtual DOM, enabling efficient UI updates and a seamless user experience.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BB439C-1DEC-92C2-DE31-2A700F79AF14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01FB1735-4691-1807-3BE2-C72A5DCA77F7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08F2AA-3052-052B-0618-281AD145436A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6CA6B6-AD52-D365-FACC-F92DDBCC06FB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73A12F9-802B-8275-1FAF-2C9F856BF787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9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8580-408B-B398-7D72-E7696704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176EE98-7149-61A9-7404-6D4FB00A5BAD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7B8675F-301C-DBC0-FCC6-881946AE7B62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0D8A2F-8C1D-B4FC-AFDA-D00E14945D1D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AC2DEC0-FF71-56F8-0A6C-13E880297ACA}"/>
              </a:ext>
            </a:extLst>
          </p:cNvPr>
          <p:cNvSpPr txBox="1"/>
          <p:nvPr/>
        </p:nvSpPr>
        <p:spPr>
          <a:xfrm>
            <a:off x="5624424" y="3105834"/>
            <a:ext cx="643603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3600" b="1" dirty="0"/>
              <a:t>Importance of React</a:t>
            </a:r>
          </a:p>
        </p:txBody>
      </p:sp>
    </p:spTree>
    <p:extLst>
      <p:ext uri="{BB962C8B-B14F-4D97-AF65-F5344CB8AC3E}">
        <p14:creationId xmlns:p14="http://schemas.microsoft.com/office/powerpoint/2010/main" val="62323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BB83-B16A-1E59-D9B7-95A80454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795324-CB86-F3E9-5BE3-2FE997EDD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6"/>
            <a:ext cx="11344861" cy="3817688"/>
          </a:xfrm>
        </p:spPr>
        <p:txBody>
          <a:bodyPr/>
          <a:lstStyle/>
          <a:p>
            <a:pPr algn="just"/>
            <a:r>
              <a:rPr lang="en-US" sz="3200" dirty="0"/>
              <a:t>Before React, front-end development struggled with: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b="1" dirty="0"/>
              <a:t>Manual DOM Manipulation: </a:t>
            </a:r>
            <a:r>
              <a:rPr lang="en-US" sz="3200" dirty="0"/>
              <a:t>Traditional JavaScript directly modified the DOM, slowing down the performance.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b="1" dirty="0"/>
              <a:t>Complex State Management: </a:t>
            </a:r>
            <a:r>
              <a:rPr lang="en-US" sz="3200" dirty="0"/>
              <a:t>Maintaining UI state became messy and hard to debug.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45BCC5-4E3A-968F-CFE0-380A2EA4E7A0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DBC6206C-EC8B-7843-6D90-DA2195946CF9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AB211ED-2C6D-241B-8D18-50DEE787B1C6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10D7971-2AA0-16F8-FBC9-AB8251EB7561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42400A4-CBB8-0DA1-21F7-09FF5D047059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4980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F3C6-750E-17E5-9511-2E8A7449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90817-834E-B060-3CDC-638E26935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1603877"/>
          </a:xfrm>
        </p:spPr>
        <p:txBody>
          <a:bodyPr/>
          <a:lstStyle/>
          <a:p>
            <a:pPr algn="just"/>
            <a:r>
              <a:rPr lang="en-US" sz="3200" b="1" dirty="0"/>
              <a:t>Tight Coupling in Frameworks: </a:t>
            </a:r>
            <a:r>
              <a:rPr lang="en-US" sz="3200" dirty="0"/>
              <a:t>Frameworks like Angular introduced complex two-way data binding that made code harder to manage.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F8025C-1F12-5422-BA26-3DFC0F3FE5FC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2CF47920-A037-FD41-F867-64F2DC8D6351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3C156B1-5643-7672-BA2B-EC7AB6CB0C8D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05AC50-7BB5-891B-D8C6-993D315167F5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E719E9-CA07-1722-BD52-73272788CB91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211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0334-0577-79CA-F53A-1169FDD8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5DEBC7-CCA0-9A10-0225-9EB0A3FF5A5A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E3A8A3A-49C0-6535-47FA-04FF19CD366E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1A715D-1A80-8DEA-C40D-F41BF0B2F4A1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6FAB1E-2AED-72A6-2011-B0D244DCA02E}"/>
              </a:ext>
            </a:extLst>
          </p:cNvPr>
          <p:cNvSpPr txBox="1"/>
          <p:nvPr/>
        </p:nvSpPr>
        <p:spPr>
          <a:xfrm>
            <a:off x="5624424" y="3105834"/>
            <a:ext cx="643603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3600" b="1" dirty="0"/>
              <a:t>Core Features</a:t>
            </a:r>
          </a:p>
        </p:txBody>
      </p:sp>
    </p:spTree>
    <p:extLst>
      <p:ext uri="{BB962C8B-B14F-4D97-AF65-F5344CB8AC3E}">
        <p14:creationId xmlns:p14="http://schemas.microsoft.com/office/powerpoint/2010/main" val="390198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3AC8-6D6F-E37F-33B0-CF9CD6EB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F2CAB9-3580-7742-DD8C-BB5818DA5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4318202"/>
          </a:xfrm>
        </p:spPr>
        <p:txBody>
          <a:bodyPr/>
          <a:lstStyle/>
          <a:p>
            <a:pPr algn="just"/>
            <a:r>
              <a:rPr lang="en-US" sz="3200" b="1" dirty="0"/>
              <a:t>Virtual DOM: </a:t>
            </a:r>
            <a:r>
              <a:rPr lang="en-US" sz="3200" dirty="0"/>
              <a:t>React updates only the changed parts of the DOM, resulting in faster rendering.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b="1" dirty="0"/>
              <a:t>One-Way Data Binding: </a:t>
            </a:r>
            <a:r>
              <a:rPr lang="en-US" sz="3200" dirty="0"/>
              <a:t>Ensures predictable and easy to debug data flow.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b="1" dirty="0"/>
              <a:t>Component-Based Architecture: </a:t>
            </a:r>
            <a:r>
              <a:rPr lang="en-US" sz="3200" dirty="0"/>
              <a:t>Breaks UI into reusable pieces, improving the code reusability and scalability.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9F045A-5856-E936-2062-737AE4C4121F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244222F6-7A8D-1C18-744B-1C0031B32EED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1B4169-7F7E-C707-7F6D-724B4A2EBE35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7E867EF-1236-A269-93B7-84B007DC108F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8A1621-1242-AE32-7687-FC20EB0190DE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3200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9CD1-C59F-ACD6-4623-384979C20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BEE9A6A-B9AA-9E73-9F51-13CF163AE1FF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4BEA9E5-F69D-6D50-EEEE-CDB66FC22239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7FCF8B-572F-63FC-1733-82080A2AFEA8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B49664A-44D4-C5D6-7FB5-458159C70394}"/>
              </a:ext>
            </a:extLst>
          </p:cNvPr>
          <p:cNvSpPr txBox="1"/>
          <p:nvPr/>
        </p:nvSpPr>
        <p:spPr>
          <a:xfrm>
            <a:off x="5624424" y="3105834"/>
            <a:ext cx="643603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3600" b="1" dirty="0"/>
              <a:t>React Hello World Program</a:t>
            </a:r>
          </a:p>
        </p:txBody>
      </p:sp>
    </p:spTree>
    <p:extLst>
      <p:ext uri="{BB962C8B-B14F-4D97-AF65-F5344CB8AC3E}">
        <p14:creationId xmlns:p14="http://schemas.microsoft.com/office/powerpoint/2010/main" val="1536393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6C82-9D96-B5A0-80F5-DB1B1BDF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CFA91-5F8F-FD6A-7A05-0567CCC1D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r>
              <a:rPr lang="en-US" sz="3200" b="1" dirty="0"/>
              <a:t>Content of </a:t>
            </a:r>
            <a:r>
              <a:rPr lang="en-US" sz="3200" b="1" dirty="0" err="1"/>
              <a:t>App.jsx</a:t>
            </a:r>
            <a:r>
              <a:rPr lang="en-US" sz="3200" b="1" dirty="0"/>
              <a:t> file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2E973F-0653-1A67-1688-80483E59CFEA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67192FB6-AADF-542B-EBFA-AC80A0961E49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52C1C0-130C-B365-D038-06EFF126AC27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FE6DB9D-435F-5299-5AA4-FE8DEB6622ED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3C8D0B-7D0C-61EF-CF85-ACA1317BDBBE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581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CEB0-78D5-17F9-9C82-8A73A813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74D268-CBDD-D562-0911-8522D821A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r>
              <a:rPr lang="en-US" sz="3200" dirty="0"/>
              <a:t>import React from 'react';</a:t>
            </a:r>
          </a:p>
          <a:p>
            <a:pPr algn="just"/>
            <a:r>
              <a:rPr lang="en-US" sz="3200" dirty="0"/>
              <a:t>function App() {</a:t>
            </a:r>
          </a:p>
          <a:p>
            <a:pPr algn="just"/>
            <a:r>
              <a:rPr lang="en-US" sz="3200" dirty="0"/>
              <a:t>    return (</a:t>
            </a:r>
          </a:p>
          <a:p>
            <a:pPr algn="just"/>
            <a:r>
              <a:rPr lang="en-US" sz="3200" dirty="0"/>
              <a:t>        &lt;div&gt;</a:t>
            </a:r>
          </a:p>
          <a:p>
            <a:pPr algn="just"/>
            <a:r>
              <a:rPr lang="en-US" sz="3200" dirty="0"/>
              <a:t>            &lt;h1&gt;Hello World&lt;/h1&gt;</a:t>
            </a:r>
          </a:p>
          <a:p>
            <a:pPr algn="just"/>
            <a:r>
              <a:rPr lang="en-US" sz="3200" dirty="0"/>
              <a:t>        &lt;/div&gt;</a:t>
            </a:r>
          </a:p>
          <a:p>
            <a:pPr algn="just"/>
            <a:r>
              <a:rPr lang="en-US" sz="3200" dirty="0"/>
              <a:t>    );</a:t>
            </a:r>
          </a:p>
          <a:p>
            <a:pPr algn="just"/>
            <a:r>
              <a:rPr lang="en-US" sz="3200" dirty="0"/>
              <a:t>}</a:t>
            </a:r>
          </a:p>
          <a:p>
            <a:pPr algn="just"/>
            <a:r>
              <a:rPr lang="en-US" sz="3200" dirty="0"/>
              <a:t>export default App;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607C33-6509-3719-A292-ADF6095F4B32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04E2EE0B-8225-6E21-C43A-2223F2F9594A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52AC31-EF53-A42B-4354-B43704C2E82A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C794F8-9798-6E0C-E00F-E48560036334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C2F9D5-419A-37FB-9F18-FF262483C8A4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287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82D14F-9A54-1F8D-3FFC-0AEB3C47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982" y="1582916"/>
            <a:ext cx="9512789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0ACC-3105-B65F-FB23-6DE484EE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A707A9-3B03-0D73-D8FB-77DF0B4CF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4221950"/>
          </a:xfrm>
        </p:spPr>
        <p:txBody>
          <a:bodyPr/>
          <a:lstStyle/>
          <a:p>
            <a:pPr algn="just"/>
            <a:r>
              <a:rPr lang="en-US" sz="3200" dirty="0"/>
              <a:t>import React from 'react': Imports the React library to use React features in the component.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function App() { ... }: Defines a React functional component called App.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return ( ... ): The return statement renders HTML-like code (JSX) inside the component.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252BB1-25E5-2879-9CEC-00E15E98545B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09E692DB-AE94-7322-1ACE-94D4286F50D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B81497-DD14-4B7E-B850-AA00186B4F4D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D0958BB-32FD-9B35-E437-EF3ABECA1BF2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C6CCEC-6310-D6A8-0F57-CD32AF1D5DF5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9544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DA15-0E6A-CC64-7B8E-77F4B18D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7123A3-E4EE-8099-1C89-B40615ACA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2961040"/>
          </a:xfrm>
        </p:spPr>
        <p:txBody>
          <a:bodyPr/>
          <a:lstStyle/>
          <a:p>
            <a:pPr algn="just"/>
            <a:r>
              <a:rPr lang="en-US" sz="3200" dirty="0"/>
              <a:t>&lt;div&gt;&lt;h1&gt;Hello World&lt;/h1&gt;&lt;/div&gt;: Displays a div element containing a heading (h1) with the text "Hello World.“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export default App: Exports the App component so it can be used in other files.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C7A9B-1512-CD0C-789B-B6353DF9C10A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A6E91119-0C4F-3CAA-9252-EFDF1B46D7BD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69FB6A-3E1E-3B8D-BD38-3FC2DFD0FC81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0A1596-B70C-94A2-12ED-CDB2AE2FF1B2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2278CB0-9C7C-FE92-3FA0-BA613E321259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9126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89184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2433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89184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504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8234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532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A60B-B399-D738-AC9C-6CC1D18C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9BBC9A-4F19-1219-2521-50B323ADBA80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784BF8D-A6E5-0B47-989A-5590C9B4C204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99845D-64B4-0EF7-4554-3C3EEF2DED39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54E1DC7-26EA-8919-4073-9E1A0753B3EC}"/>
              </a:ext>
            </a:extLst>
          </p:cNvPr>
          <p:cNvSpPr txBox="1"/>
          <p:nvPr/>
        </p:nvSpPr>
        <p:spPr>
          <a:xfrm>
            <a:off x="5624424" y="3105834"/>
            <a:ext cx="643603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/>
              <a:t>Types</a:t>
            </a:r>
          </a:p>
        </p:txBody>
      </p:sp>
    </p:spTree>
    <p:extLst>
      <p:ext uri="{BB962C8B-B14F-4D97-AF65-F5344CB8AC3E}">
        <p14:creationId xmlns:p14="http://schemas.microsoft.com/office/powerpoint/2010/main" val="3605707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89184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4086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4B0FF5B-5857-4DD2-8316-525F7AB76D4C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FD24A37-A04F-4CF8-80D7-1D65CB9073FD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50E034-FB76-415F-B18C-807D285EA85C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624424" y="3075056"/>
            <a:ext cx="635766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cs typeface="Arial" pitchFamily="34" charset="0"/>
              </a:rPr>
              <a:t>Shorthand Operators</a:t>
            </a:r>
            <a:endParaRPr lang="ko-KR" altLang="en-US" sz="4000" b="1" dirty="0">
              <a:solidFill>
                <a:srgbClr val="00206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954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306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8155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5562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2655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5840083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1058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084E4B-5F7E-4B0D-9538-D7ABEB183593}"/>
              </a:ext>
            </a:extLst>
          </p:cNvPr>
          <p:cNvSpPr/>
          <p:nvPr/>
        </p:nvSpPr>
        <p:spPr>
          <a:xfrm>
            <a:off x="7857460" y="1"/>
            <a:ext cx="4334539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/>
        </p:nvSpPr>
        <p:spPr>
          <a:xfrm>
            <a:off x="7857460" y="2629120"/>
            <a:ext cx="4334539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5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4841</TotalTime>
  <Words>301</Words>
  <Application>Microsoft Office PowerPoint</Application>
  <PresentationFormat>Widescreen</PresentationFormat>
  <Paragraphs>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ARVIND KHARWAL</cp:lastModifiedBy>
  <cp:revision>226</cp:revision>
  <cp:lastPrinted>2019-05-18T07:06:32Z</cp:lastPrinted>
  <dcterms:created xsi:type="dcterms:W3CDTF">2018-04-24T17:14:44Z</dcterms:created>
  <dcterms:modified xsi:type="dcterms:W3CDTF">2026-07-03T05:43:46Z</dcterms:modified>
</cp:coreProperties>
</file>